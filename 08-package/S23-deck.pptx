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5ead2e82-4372-2cbb-e677-2167d8cf8cef}">
          <p14:sldIdLst>
            <p14:sldId id="256"/>
            <p14:sldId id="257"/>
          </p14:sldIdLst>
        </p14:section>
        <p14:section name="Phát hiện" id="{688d7f5d-9aa5-7115-b0d9-e87de6528609}">
          <p14:sldIdLst>
            <p14:sldId id="258"/>
            <p14:sldId id="259"/>
            <p14:sldId id="260"/>
          </p14:sldIdLst>
        </p14:section>
        <p14:section name="Giải pháp" id="{b4bc8298-8dfd-cdfc-99fd-deff996982a9}">
          <p14:sldIdLst>
            <p14:sldId id="261"/>
            <p14:sldId id="262"/>
            <p14:sldId id="263"/>
          </p14:sldIdLst>
        </p14:section>
        <p14:section name="Business case" id="{03b9df25-1c57-6927-bdf5-44a5a498fbb8}">
          <p14:sldIdLst>
            <p14:sldId id="264"/>
            <p14:sldId id="265"/>
          </p14:sldIdLst>
        </p14:section>
        <p14:section name="Kết" id="{b19adc4a-94ca-6fb7-91fe-1322d5d2681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6201C"/>
                </a:solidFill>
                <a:latin typeface="+mn-lt"/>
              </a:rPr>
              <a:t>NPV chi phí 2027–2035, tỷ đồng (âm = có lãi) — chính sách dự thảo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Tự tổ chức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Ắc quy chì</c:v>
                  </c:pt>
                  <c:pt idx="1">
                    <c:v>Pin Li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-29.239</c:v>
                </c:pt>
                <c:pt idx="1">
                  <c:v>-8.279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Đóng quỹ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Ắc quy chì</c:v>
                  </c:pt>
                  <c:pt idx="1">
                    <c:v>Pin Li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25.204</c:v>
                </c:pt>
                <c:pt idx="1">
                  <c:v>19.187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Ủy quyền PRO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Ắc quy chì</c:v>
                  </c:pt>
                  <c:pt idx="1">
                    <c:v>Pin Li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19.202</c:v>
                </c:pt>
                <c:pt idx="1">
                  <c:v>14.607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Khách hàng giả định VELIX, hãng xe máy điện chịu nghĩa vụ EPR. Mọi dữ liệu doanh nghiệp là giả lập; số liệu thị trường có nguồn.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điệp chính trước, chi tiết sau. Mọi số là trung vị Monte Carlo, kịch bản Cơ sở.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Trích nguyên văn ở req-extraction-vn.csv và req-extraction-eu.csv. ⛔ = Việt Nam chưa có quy định tương ứng, nền tảng tự đặt yêu cầu.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Nguồn: ICCT, VinFast Form 20-F, IEA (Unverified). Sai số chủ yếu đến từ thông số pin, không phải doanh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phi chính thức là phần còn lại, ước lượng theo khoảng 50–80% với pin Li; không có số đo trực tiếp.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tiết ở S13 và SRS S14.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Dữ liệu NASA PCoE, 4 cell 18650; kiểm định leave-one-battery-out; khoảng tin cậy bằng Conformalized Quantile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2.000 lượt Monte Carlo. Pin Li theo dự thảo: A rẻ nhất 85,5%, C 14,5%. Theo chính sách 0%: A 60%, B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3D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E69"/>
                </a:solidFill>
              </a:rPr>
              <a:t>Battery 2030 · VELIX (giả định) · 10/2026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201C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Battery 2030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Nền tảng quản lý vòng đời và trách nhiệm thu hồi pin xe điện tại Việt Nam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Dự báo làn sóng pin hết hạn 2030 · Thiết kế giải pháp · Business case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Làn sóng pin Li thật sự bắt đầu quanh 2029–2030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≈15 kt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 Li hết hạn năm 2030 (P10–P90: 11–20 nghìn tấn)</a:t>
            </a:r>
            <a:endParaRPr lang="en-US" sz="1300" dirty="0"/>
          </a:p>
        </p:txBody>
      </p:sp>
      <p:sp>
        <p:nvSpPr>
          <p:cNvPr id="6" name="stat-card"/>
          <p:cNvSpPr/>
          <p:nvPr/>
        </p:nvSpPr>
        <p:spPr>
          <a:xfrm>
            <a:off x="338328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≈71 kt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năm 2035, gấp gần 5 lần 2030</a:t>
            </a:r>
            <a:endParaRPr lang="en-US" sz="1300" dirty="0"/>
          </a:p>
        </p:txBody>
      </p:sp>
      <p:sp>
        <p:nvSpPr>
          <p:cNvPr id="9" name="stat-card"/>
          <p:cNvSpPr/>
          <p:nvPr/>
        </p:nvSpPr>
        <p:spPr>
          <a:xfrm>
            <a:off x="621792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→ 8%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tỷ lệ tái chế bắt buộc pin Li: hiện hành → dự thảo từ 2029</a:t>
            </a:r>
            <a:endParaRPr lang="en-US" sz="1300" dirty="0"/>
          </a:p>
        </p:txBody>
      </p:sp>
      <p:sp>
        <p:nvSpPr>
          <p:cNvPr id="12" name="stat-card"/>
          <p:cNvSpPr/>
          <p:nvPr/>
        </p:nvSpPr>
        <p:spPr>
          <a:xfrm>
            <a:off x="905256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73/73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4231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 case tự động đạt trên prototype</a:t>
            </a:r>
            <a:endParaRPr lang="en-US" sz="1300" dirty="0"/>
          </a:p>
        </p:txBody>
      </p:sp>
      <p:sp>
        <p:nvSpPr>
          <p:cNvPr id="15" name="body-bullets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Mốc điều chỉnh 2029 của NĐ 110/2026 trùng năm pin Li hết hạn vượt 10 nghìn tấn/năm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Ắc quy chì (≈33 nghìn tấn/năm) mới là bài toán hiện tại; nghĩa vụ 12% đã có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Khuyến nghị: tự tổ chức thu hồi ắc quy chì ngay; quyết định hình thức EPR pin Li trước 30/6/2028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Việt Nam đo khối lượng đã tái chế, EU đo tỷ lệ thu gom</a:t>
            </a:r>
            <a:endParaRPr lang="en-US" sz="3200" dirty="0"/>
          </a:p>
        </p:txBody>
      </p:sp>
      <p:graphicFrame>
        <p:nvGraphicFramePr>
          <p:cNvPr id="4" name="g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420624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Chủ đề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Việt Nam (NĐ 110/2026)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EU 2023/1542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Mức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Chỉ tiêu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Tái chế theo khối lượng bán cùng năm; pin Li 0%, chì 12%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Thu gom pin LMT 51% (2028), 61% (2031)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Mạng thu hồi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Không bắt buộc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Miễn phí, mọi hãng, phủ toàn lãnh thổ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Đời thứ hai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Chưa có quy định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Bằng chứng SoH + hợp đồng chuyển giao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Định danh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Chưa có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Battery passport từ 18/2/2027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Chứng từ giao nhận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Theo dõi riêng, mẫu CTNH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Báo cáo lượng giao xử lý, xuất khẩu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1C"/>
                          </a:solidFill>
                        </a:rPr>
                        <a:t>✏️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18 chủ đề: 6 ⛔ · 7 ⚠️ · 5 ✏️ — chi tiết ở S6. Phân tích nghiệp vụ, không phải tư vấn pháp lý.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Pin Li hết hạn tăng gần 5 lần trong 2030–2035</a:t>
            </a:r>
            <a:endParaRPr lang="en-US" sz="3200" dirty="0"/>
          </a:p>
        </p:txBody>
      </p:sp>
      <p:pic>
        <p:nvPicPr>
          <p:cNvPr id="3" name="chart-fan" descr="chart-f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223760" cy="3792474"/>
          </a:xfrm>
          <a:prstGeom prst="rect">
            <a:avLst/>
          </a:prstGeom>
        </p:spPr>
      </p:pic>
      <p:sp>
        <p:nvSpPr>
          <p:cNvPr id="4" name="body-bullets"/>
          <p:cNvSpPr txBox="1"/>
          <p:nvPr/>
        </p:nvSpPr>
        <p:spPr>
          <a:xfrm>
            <a:off x="8046720" y="1371600"/>
            <a:ext cx="35661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Cohort × Weibull, có thay pin và thải bỏ xe; 1.000 lượt Monte Carlo/kịch bản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Mốc 10 nghìn tấn/năm: 2029–2030 ở cả 3 kịch bản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Tuổi thọ ±2 năm: mốc dịch ~1 năm, lượng 2030 đổi −32% đến +69%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Khớp VinFast 20-F (5/5 phép kiểm) và World Bank (lệch 1%)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70% pin hết hạn năm 2030 đi kênh không chứng từ</a:t>
            </a:r>
            <a:endParaRPr lang="en-US" sz="3200" dirty="0"/>
          </a:p>
        </p:txBody>
      </p:sp>
      <p:pic>
        <p:nvPicPr>
          <p:cNvPr id="3" name="sankey" descr="sa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589520" cy="3579962"/>
          </a:xfrm>
          <a:prstGeom prst="rect">
            <a:avLst/>
          </a:prstGeom>
        </p:spPr>
      </p:pic>
      <p:sp>
        <p:nvSpPr>
          <p:cNvPr id="4" name="stat-card"/>
          <p:cNvSpPr/>
          <p:nvPr/>
        </p:nvSpPr>
        <p:spPr>
          <a:xfrm>
            <a:off x="868680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0" y="1554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 Li đủ điều kiện kỹ thuật cho đời thứ hai</a:t>
            </a:r>
            <a:endParaRPr lang="en-US" sz="1300" dirty="0"/>
          </a:p>
        </p:txBody>
      </p:sp>
      <p:sp>
        <p:nvSpPr>
          <p:cNvPr id="7" name="stat-card"/>
          <p:cNvSpPr/>
          <p:nvPr/>
        </p:nvSpPr>
        <p:spPr>
          <a:xfrm>
            <a:off x="8686800" y="32918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0" y="3474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thực sự đến đời thứ hai — đòn bẩy là thu hồi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Quy trình To-Be: mỗi điểm chạm của pin đều có dữ liệu</a:t>
            </a:r>
            <a:endParaRPr lang="en-US" sz="3200" dirty="0"/>
          </a:p>
        </p:txBody>
      </p:sp>
      <p:pic>
        <p:nvPicPr>
          <p:cNvPr id="3" name="bpmn" descr="bp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0236200" cy="3566160"/>
          </a:xfrm>
          <a:prstGeom prst="rect">
            <a:avLst/>
          </a:prstGeom>
        </p:spPr>
      </p:pic>
      <p:sp>
        <p:nvSpPr>
          <p:cNvPr id="4" name="body-bullets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8 phân hệ · 33 FR · 11 NFR · 30 quy tắc nghiệp vụ theo EARS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Hai chặng chứng từ: điểm thu hồi → trung tâm kiểm định → đối tác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R, Fs, hạn nộp là tham số theo năm trách nhiệm — không sửa mã khi luật đổi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Prototype 14 màn hình, kiểm thử tự động 100%</a:t>
            </a:r>
            <a:endParaRPr lang="en-US" sz="3200" dirty="0"/>
          </a:p>
        </p:txBody>
      </p:sp>
      <p:pic>
        <p:nvPicPr>
          <p:cNvPr id="3" name="screen-intake" descr="screen-int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469341"/>
          </a:xfrm>
          <a:prstGeom prst="rect">
            <a:avLst/>
          </a:prstGeom>
        </p:spPr>
      </p:pic>
      <p:pic>
        <p:nvPicPr>
          <p:cNvPr id="4" name="screen-epr" descr="screen-ep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469341"/>
          </a:xfrm>
          <a:prstGeom prst="rect">
            <a:avLst/>
          </a:prstGeom>
        </p:spPr>
      </p:pic>
      <p:sp>
        <p:nvSpPr>
          <p:cNvPr id="5" name="body-bullets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73/73 test case Playwright đạt; 64/64 AC và 30/30 quy tắc được phủ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Kỹ thuật: phân vùng tương đương, giá trị biên, bảng quyết định, chuyển trạng thái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lỗi thật phát hiện và sửa trong quá trình kiểm thử, có test hồi quy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AI ước lượng SoH: đủ chính xác, chưa đủ chắc để tự quyết</a:t>
            </a:r>
            <a:endParaRPr lang="en-US" sz="3200" dirty="0"/>
          </a:p>
        </p:txBody>
      </p:sp>
      <p:pic>
        <p:nvPicPr>
          <p:cNvPr id="3" name="soh-chart" descr="soh-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3383280"/>
          </a:xfrm>
          <a:prstGeom prst="rect">
            <a:avLst/>
          </a:prstGeom>
        </p:spPr>
      </p:pic>
      <p:graphicFrame>
        <p:nvGraphicFramePr>
          <p:cNvPr id="9" name="ai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Yêu cầu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Đo được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Kết quả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AIR-01 MAE ≤ 3 điểm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2,53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Đạt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AIR-02 độ phủ ≥ 85%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88,5%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Đạt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AIR-03 tự động đúng ≥ 97%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87,1%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Không đạt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AIR-04 đo tay ≤ 30%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94,6%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01C"/>
                          </a:solidFill>
                        </a:rPr>
                        <a:t>Không đạt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Quyết định DEC-11: MVP chạy mô hình song song, mọi pin đo tay; bật tự động khi đạt AIR-03/04 trên 500 pin VELIX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Tự tổ chức thắng cho ắc quy chì; pin Li phụ thuộc giá đời thứ hai</a:t>
            </a:r>
            <a:endParaRPr lang="en-US" sz="3200" dirty="0"/>
          </a:p>
        </p:txBody>
      </p:sp>
      <p:graphicFrame>
        <p:nvGraphicFramePr>
          <p:cNvPr id="3" name="npv-chart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804672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554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lượt mô phỏng A rẻ nhất cho ắc quy chì</a:t>
            </a:r>
            <a:endParaRPr lang="en-US" sz="1300" dirty="0"/>
          </a:p>
        </p:txBody>
      </p:sp>
      <p:sp>
        <p:nvSpPr>
          <p:cNvPr id="7" name="stat-card"/>
          <p:cNvSpPr/>
          <p:nvPr/>
        </p:nvSpPr>
        <p:spPr>
          <a:xfrm>
            <a:off x="8046720" y="329184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3474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0,67 tr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251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đ/kWh — giá pin đời thứ hai hòa vốn A = B cho pin Li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5212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Giả định giá trị kinh tế có mức tin cậy Thấp, trình bày theo khoảng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</a:rPr>
              <a:t>Ba quyết định và lộ trình</a:t>
            </a:r>
            <a:endParaRPr lang="en-US" sz="3200" dirty="0"/>
          </a:p>
        </p:txBody>
      </p:sp>
      <p:sp>
        <p:nvSpPr>
          <p:cNvPr id="3" name="step-dot"/>
          <p:cNvSpPr/>
          <p:nvPr/>
        </p:nvSpPr>
        <p:spPr>
          <a:xfrm>
            <a:off x="132588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25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Q4/2026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Hợp đồng đơn vị tái chế chì; hồ sơ chủ nguồn thải 3 điểm thí điểm</a:t>
            </a:r>
            <a:endParaRPr lang="en-US" sz="1400" dirty="0"/>
          </a:p>
        </p:txBody>
      </p:sp>
      <p:sp>
        <p:nvSpPr>
          <p:cNvPr id="7" name="step-dot"/>
          <p:cNvSpPr/>
          <p:nvPr/>
        </p:nvSpPr>
        <p:spPr>
          <a:xfrm>
            <a:off x="3593592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31/3/2027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2971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Đăng ký "Tổ chức tái chế" cho ắc quy chì, năm trách nhiệm 2026</a:t>
            </a:r>
            <a:endParaRPr lang="en-US" sz="1400" dirty="0"/>
          </a:p>
        </p:txBody>
      </p:sp>
      <p:sp>
        <p:nvSpPr>
          <p:cNvPr id="11" name="step-dot"/>
          <p:cNvSpPr/>
          <p:nvPr/>
        </p:nvSpPr>
        <p:spPr>
          <a:xfrm>
            <a:off x="5861304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6130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Q1/2027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971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MVP nền tảng: 25 story, 5 sprint</a:t>
            </a:r>
            <a:endParaRPr lang="en-US" sz="1400" dirty="0"/>
          </a:p>
        </p:txBody>
      </p:sp>
      <p:sp>
        <p:nvSpPr>
          <p:cNvPr id="15" name="step-dot"/>
          <p:cNvSpPr/>
          <p:nvPr/>
        </p:nvSpPr>
        <p:spPr>
          <a:xfrm>
            <a:off x="8129016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901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51776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2028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971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Thí điểm đời thứ hai, đo giá bán thật</a:t>
            </a:r>
            <a:endParaRPr lang="en-US" sz="1400" dirty="0"/>
          </a:p>
        </p:txBody>
      </p:sp>
      <p:sp>
        <p:nvSpPr>
          <p:cNvPr id="19" name="step-dot"/>
          <p:cNvSpPr/>
          <p:nvPr/>
        </p:nvSpPr>
        <p:spPr>
          <a:xfrm>
            <a:off x="10396728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9672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19488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30/6/2028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971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Chọn hình thức EPR pin Li cho 2029–2031</a:t>
            </a:r>
            <a:endParaRPr lang="en-US" sz="1400" dirty="0"/>
          </a:p>
        </p:txBody>
      </p:sp>
      <p:sp>
        <p:nvSpPr>
          <p:cNvPr id="23" name="timeline"/>
          <p:cNvSpPr/>
          <p:nvPr/>
        </p:nvSpPr>
        <p:spPr>
          <a:xfrm>
            <a:off x="1600200" y="2011680"/>
            <a:ext cx="9052560" cy="0"/>
          </a:xfrm>
          <a:prstGeom prst="line">
            <a:avLst/>
          </a:prstGeom>
          <a:noFill/>
          <a:ln w="19050">
            <a:solidFill>
              <a:srgbClr val="C9D1C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Quy tắc đổi hướng: giá pin đời thứ hai &lt; ~0,7 triệu đ/kWh hoặc tỷ lệ đủ điều kiện &lt; 20% → pin Li chuyển sang PRO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E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Dữ liệu từng pin là điều kiện của mọi phương án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Tài liệu, dữ liệu, mã nguồn: github.com/taint7684/battery-2030-ba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Dashboard và prototype: taint7684.github.io/battery-2030-ba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ttery 2030">
  <a:themeElements>
    <a:clrScheme name="Battery 2030">
      <a:dk1>
        <a:srgbClr val="16201C"/>
      </a:dk1>
      <a:lt1>
        <a:srgbClr val="FFFFFF"/>
      </a:lt1>
      <a:dk2>
        <a:srgbClr val="1F3A33"/>
      </a:dk2>
      <a:lt2>
        <a:srgbClr val="EEF2F0"/>
      </a:lt2>
      <a:accent1>
        <a:srgbClr val="1F6F5C"/>
      </a:accent1>
      <a:accent2>
        <a:srgbClr val="EB6834"/>
      </a:accent2>
      <a:accent3>
        <a:srgbClr val="2A78D6"/>
      </a:accent3>
      <a:accent4>
        <a:srgbClr val="1BAF7A"/>
      </a:accent4>
      <a:accent5>
        <a:srgbClr val="6F6E69"/>
      </a:accent5>
      <a:accent6>
        <a:srgbClr val="B3261E"/>
      </a:accent6>
      <a:hlink>
        <a:srgbClr val="2A78D6"/>
      </a:hlink>
      <a:folHlink>
        <a:srgbClr val="6250D6"/>
      </a:folHlink>
    </a:clrScheme>
    <a:fontScheme name="Battery 203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2030</dc:title>
  <dc:subject>PptxGenJS Presentation</dc:subject>
  <dc:creator>taint7684</dc:creator>
  <cp:lastModifiedBy>taint7684</cp:lastModifiedBy>
  <cp:revision>1</cp:revision>
  <dcterms:created xsi:type="dcterms:W3CDTF">2026-10-20T05:49:19Z</dcterms:created>
  <dcterms:modified xsi:type="dcterms:W3CDTF">2026-10-20T05:49:19Z</dcterms:modified>
</cp:coreProperties>
</file>